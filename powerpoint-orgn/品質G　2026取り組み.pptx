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66" r:id="rId5"/>
    <p:sldId id="26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6159" autoAdjust="0"/>
  </p:normalViewPr>
  <p:slideViewPr>
    <p:cSldViewPr snapToGrid="0">
      <p:cViewPr varScale="1">
        <p:scale>
          <a:sx n="110" d="100"/>
          <a:sy n="110" d="100"/>
        </p:scale>
        <p:origin x="17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78C2D-E61E-4EF6-BA5B-706D39D2FA06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C3F2E-E79F-4140-AE94-458D4A99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7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E5B6E-EB7B-4064-944D-43E0A321B5DF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2300" y="6395029"/>
            <a:ext cx="2057400" cy="365125"/>
          </a:xfrm>
        </p:spPr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19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0D1D-AC5A-40AF-B60B-53DE733B659E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5186" y="6356351"/>
            <a:ext cx="2057400" cy="365125"/>
          </a:xfrm>
        </p:spPr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18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793F4-4505-433D-8AFF-1E70B7C9D435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14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0F89-6FF8-4843-9F4D-B0B2FA90F54C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07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9752-D200-4238-A7A6-9A96297DBC1C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4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B3FCE-2E73-4170-B9D9-31E4812AA7D8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6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714-08B0-47E5-BAA2-F854C8197002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356351"/>
            <a:ext cx="2057400" cy="365125"/>
          </a:xfrm>
        </p:spPr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15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9D3D-1D5D-4F6E-A4E9-112978137CE2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74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3637-75FD-496D-B813-4C51F4723AC5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46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9ADB-9E9C-476D-B0D6-56590502B3F8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49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FA169-C685-4944-80EF-597EF0208944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75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B3150-37DB-47F2-8396-6A2D35C1152C}" type="datetime1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A4F3B-0683-433D-B647-84C72BC119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19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49A4D47-DBA6-B5F2-F722-3AF06FB9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82572AD-3E27-04E2-4A60-49AACE596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60447"/>
              </p:ext>
            </p:extLst>
          </p:nvPr>
        </p:nvGraphicFramePr>
        <p:xfrm>
          <a:off x="251113" y="623973"/>
          <a:ext cx="8641774" cy="593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892">
                  <a:extLst>
                    <a:ext uri="{9D8B030D-6E8A-4147-A177-3AD203B41FA5}">
                      <a16:colId xmlns:a16="http://schemas.microsoft.com/office/drawing/2014/main" val="3897709855"/>
                    </a:ext>
                  </a:extLst>
                </a:gridCol>
                <a:gridCol w="7541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04">
                <a:tc>
                  <a:txBody>
                    <a:bodyPr/>
                    <a:lstStyle/>
                    <a:p>
                      <a:pPr algn="ctr"/>
                      <a:endParaRPr kumimoji="1" lang="en-US" altLang="ja-JP" sz="1800" b="0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取組内容・時期等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93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FY26</a:t>
                      </a:r>
                    </a:p>
                    <a:p>
                      <a:pPr algn="ctr"/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取り組み</a:t>
                      </a:r>
                      <a:endParaRPr kumimoji="1" lang="en-US" altLang="ja-JP" sz="1600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EVPEAK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GREPOW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SKYDROID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の継続評価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いしかわ</a:t>
                      </a:r>
                      <a:endParaRPr kumimoji="1" lang="en-US" altLang="ja-JP" sz="1600" b="0" u="none" strike="noStrike" dirty="0">
                        <a:solidFill>
                          <a:srgbClr val="FF0000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・サイレントチェンジの監視評価⇒受入前での確認：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PO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発行時に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Ver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の連絡を必須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</a:t>
                      </a:r>
                      <a:r>
                        <a:rPr kumimoji="1" lang="en-US" altLang="ja-JP" sz="1600" b="0" u="none" strike="noStrike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AirGrow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搭載センサーの定量的評価手法の策定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ふじた</a:t>
                      </a:r>
                      <a:endParaRPr kumimoji="1" lang="en-US" altLang="ja-JP" sz="1600" b="0" u="none" strike="noStrike" dirty="0">
                        <a:solidFill>
                          <a:srgbClr val="FF0000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・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Lidar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・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GNSS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</a:t>
                      </a:r>
                      <a:r>
                        <a:rPr kumimoji="1" lang="en-US" altLang="ja-JP" sz="1600" b="0" u="none" strike="noStrike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AirGrow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：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FMEA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⇒設計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FMEA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工程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FMEA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の実施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いしかわ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■帯電散布の検証方法策定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こいたばし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■点群データ検証方法の策定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ふじた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■経年劣化部品の検証方法策定⇒メカ　　　　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いしかわ　こいたばし</a:t>
                      </a:r>
                      <a:endParaRPr kumimoji="1" lang="en-US" altLang="ja-JP" sz="1600" b="0" u="none" strike="noStrike" dirty="0">
                        <a:solidFill>
                          <a:srgbClr val="FF0000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　　　　　　　　　　　　　　　　　　　　⇒電気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■次世代バッテリ及び充電器の導入前評価　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いしかわ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H12G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EVT DVT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量産評価　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こいたばし</a:t>
                      </a:r>
                      <a:endParaRPr kumimoji="1" lang="en-US" altLang="ja-JP" sz="1600" b="0" u="none" strike="noStrike" dirty="0">
                        <a:solidFill>
                          <a:srgbClr val="FF0000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■受入検査データベース化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ふじた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■工程不良データベース化　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ふじた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■中国製品修理スキーム検討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こいたばし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■東南アジア　（ベトナム　タイ）安全規格習得　</a:t>
                      </a:r>
                      <a:r>
                        <a:rPr kumimoji="1" lang="ja-JP" altLang="en-US" sz="1600" b="0" u="none" strike="noStrike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</a:rPr>
                        <a:t>みんな</a:t>
                      </a:r>
                      <a:endParaRPr kumimoji="1" lang="en-US" altLang="ja-JP" sz="1600" b="0" u="none" strike="noStrike" dirty="0">
                        <a:solidFill>
                          <a:srgbClr val="FF0000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70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8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34AF5-F5F5-D637-2661-4291D33B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084B67B-81B5-149B-3254-7F2CC928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4F3B-0683-433D-B647-84C72BC119C5}" type="slidenum">
              <a:rPr kumimoji="1" lang="ja-JP" altLang="en-US" smtClean="0"/>
              <a:t>2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1F9F405-B822-B0AC-77EF-3D46CD70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91385"/>
              </p:ext>
            </p:extLst>
          </p:nvPr>
        </p:nvGraphicFramePr>
        <p:xfrm>
          <a:off x="251113" y="623973"/>
          <a:ext cx="8641774" cy="5930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892">
                  <a:extLst>
                    <a:ext uri="{9D8B030D-6E8A-4147-A177-3AD203B41FA5}">
                      <a16:colId xmlns:a16="http://schemas.microsoft.com/office/drawing/2014/main" val="3897709855"/>
                    </a:ext>
                  </a:extLst>
                </a:gridCol>
                <a:gridCol w="7541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04">
                <a:tc>
                  <a:txBody>
                    <a:bodyPr/>
                    <a:lstStyle/>
                    <a:p>
                      <a:pPr algn="ctr"/>
                      <a:endParaRPr kumimoji="1" lang="en-US" altLang="ja-JP" sz="1800" b="0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u="none" strike="noStrike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AirGrow</a:t>
                      </a:r>
                      <a:r>
                        <a:rPr kumimoji="1" lang="ja-JP" altLang="en-US" sz="1800" b="1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搭載センサーの定量的評価手法の策定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93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FY26</a:t>
                      </a:r>
                    </a:p>
                    <a:p>
                      <a:pPr algn="ctr"/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取り組み</a:t>
                      </a:r>
                      <a:endParaRPr kumimoji="1" lang="en-US" altLang="ja-JP" sz="1600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■</a:t>
                      </a:r>
                      <a:r>
                        <a:rPr kumimoji="1" lang="en-US" altLang="ja-JP" sz="1600" b="0" u="none" strike="noStrike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AirGrow</a:t>
                      </a: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搭載センサーの定量的評価手法の策定</a:t>
                      </a: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・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Lidar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・</a:t>
                      </a:r>
                      <a:r>
                        <a:rPr kumimoji="1" lang="en-US" altLang="ja-JP" sz="1600" b="0" u="none" strike="noStrik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GNSS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1600" b="0" u="none" strike="noStrik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70355"/>
                  </a:ext>
                </a:extLst>
              </a:tr>
            </a:tbl>
          </a:graphicData>
        </a:graphic>
      </p:graphicFrame>
      <p:sp>
        <p:nvSpPr>
          <p:cNvPr id="6" name="Rectangle 24">
            <a:extLst>
              <a:ext uri="{FF2B5EF4-FFF2-40B4-BE49-F238E27FC236}">
                <a16:creationId xmlns:a16="http://schemas.microsoft.com/office/drawing/2014/main" id="{33BE13A3-5A89-3348-7159-0BB774B68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478" y="2990215"/>
            <a:ext cx="1274807" cy="238125"/>
          </a:xfrm>
          <a:prstGeom prst="rect">
            <a:avLst/>
          </a:prstGeom>
          <a:solidFill>
            <a:srgbClr val="FF6600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0" lang="ja-JP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１</a:t>
            </a:r>
            <a:r>
              <a:rPr kumimoji="0" lang="en-US" altLang="ja-JP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Q</a:t>
            </a:r>
          </a:p>
        </p:txBody>
      </p:sp>
      <p:sp>
        <p:nvSpPr>
          <p:cNvPr id="7" name="Rectangle 25">
            <a:extLst>
              <a:ext uri="{FF2B5EF4-FFF2-40B4-BE49-F238E27FC236}">
                <a16:creationId xmlns:a16="http://schemas.microsoft.com/office/drawing/2014/main" id="{D3B925E8-22C8-2102-9DEB-D6675375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015" y="2987040"/>
            <a:ext cx="1274807" cy="252412"/>
          </a:xfrm>
          <a:prstGeom prst="rect">
            <a:avLst/>
          </a:prstGeom>
          <a:solidFill>
            <a:srgbClr val="FF6600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0" lang="ja-JP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２</a:t>
            </a:r>
            <a:r>
              <a:rPr kumimoji="0" lang="en-US" altLang="ja-JP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Q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42E7CC86-9CF9-956D-159E-E244B682A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140" y="2999740"/>
            <a:ext cx="1274807" cy="252412"/>
          </a:xfrm>
          <a:prstGeom prst="rect">
            <a:avLst/>
          </a:prstGeom>
          <a:solidFill>
            <a:srgbClr val="FF6600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0" lang="ja-JP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３</a:t>
            </a:r>
            <a:r>
              <a:rPr kumimoji="0" lang="en-US" altLang="ja-JP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Q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71A3BF83-1F82-2D45-D500-12E3FBFE5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853" y="2999740"/>
            <a:ext cx="1274807" cy="252412"/>
          </a:xfrm>
          <a:prstGeom prst="rect">
            <a:avLst/>
          </a:prstGeom>
          <a:solidFill>
            <a:srgbClr val="FF6600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0" lang="ja-JP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４</a:t>
            </a:r>
            <a:r>
              <a:rPr kumimoji="0" lang="en-US" altLang="ja-JP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Q</a:t>
            </a:r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D7295D9-D042-7834-8F04-AE418CB87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390" y="2996565"/>
            <a:ext cx="1274807" cy="252412"/>
          </a:xfrm>
          <a:prstGeom prst="rect">
            <a:avLst/>
          </a:prstGeom>
          <a:solidFill>
            <a:srgbClr val="FF6600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0" lang="ja-JP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１</a:t>
            </a:r>
            <a:r>
              <a:rPr kumimoji="0" lang="en-US" altLang="ja-JP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Q</a:t>
            </a:r>
          </a:p>
        </p:txBody>
      </p:sp>
      <p:sp>
        <p:nvSpPr>
          <p:cNvPr id="11" name="AutoShape 39">
            <a:extLst>
              <a:ext uri="{FF2B5EF4-FFF2-40B4-BE49-F238E27FC236}">
                <a16:creationId xmlns:a16="http://schemas.microsoft.com/office/drawing/2014/main" id="{F4DA2047-C49A-85B2-45CF-5A7E5FC19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778" y="3364865"/>
            <a:ext cx="2631405" cy="377825"/>
          </a:xfrm>
          <a:prstGeom prst="homePlate">
            <a:avLst>
              <a:gd name="adj" fmla="val 133104"/>
            </a:avLst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ja-JP" dirty="0"/>
              <a:t>Step1.</a:t>
            </a:r>
            <a:endParaRPr lang="ja-JP" altLang="en-US" dirty="0"/>
          </a:p>
        </p:txBody>
      </p:sp>
      <p:sp>
        <p:nvSpPr>
          <p:cNvPr id="12" name="AutoShape 40">
            <a:extLst>
              <a:ext uri="{FF2B5EF4-FFF2-40B4-BE49-F238E27FC236}">
                <a16:creationId xmlns:a16="http://schemas.microsoft.com/office/drawing/2014/main" id="{2AFB9C83-4F4F-DE44-6B22-642950170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4216" y="3377565"/>
            <a:ext cx="3133430" cy="361950"/>
          </a:xfrm>
          <a:prstGeom prst="chevron">
            <a:avLst>
              <a:gd name="adj" fmla="val 132649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ja-JP" dirty="0"/>
              <a:t>Step2.</a:t>
            </a:r>
            <a:endParaRPr lang="ja-JP" altLang="en-US" dirty="0"/>
          </a:p>
        </p:txBody>
      </p:sp>
      <p:sp>
        <p:nvSpPr>
          <p:cNvPr id="15" name="Text Box 43">
            <a:extLst>
              <a:ext uri="{FF2B5EF4-FFF2-40B4-BE49-F238E27FC236}">
                <a16:creationId xmlns:a16="http://schemas.microsoft.com/office/drawing/2014/main" id="{3B384134-7A42-74EB-687A-2927371CF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148" y="2602231"/>
            <a:ext cx="1079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0" lang="en-US" altLang="ja-JP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FY2026</a:t>
            </a:r>
          </a:p>
        </p:txBody>
      </p:sp>
      <p:sp>
        <p:nvSpPr>
          <p:cNvPr id="16" name="Text Box 43">
            <a:extLst>
              <a:ext uri="{FF2B5EF4-FFF2-40B4-BE49-F238E27FC236}">
                <a16:creationId xmlns:a16="http://schemas.microsoft.com/office/drawing/2014/main" id="{CC18717F-5992-7D6E-4778-77DFB099A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700" y="2602231"/>
            <a:ext cx="1079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0" lang="en-US" altLang="ja-JP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ＭＳ Ｐゴシック" panose="020B0600070205080204" pitchFamily="50" charset="-128"/>
              </a:rPr>
              <a:t>FY2027</a:t>
            </a:r>
          </a:p>
        </p:txBody>
      </p:sp>
      <p:sp>
        <p:nvSpPr>
          <p:cNvPr id="17" name="AutoShape 40">
            <a:extLst>
              <a:ext uri="{FF2B5EF4-FFF2-40B4-BE49-F238E27FC236}">
                <a16:creationId xmlns:a16="http://schemas.microsoft.com/office/drawing/2014/main" id="{2E9F324B-0437-898A-CD9A-252EB7769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36" y="3390265"/>
            <a:ext cx="1851961" cy="361950"/>
          </a:xfrm>
          <a:prstGeom prst="chevron">
            <a:avLst>
              <a:gd name="adj" fmla="val 132649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ja-JP" dirty="0"/>
              <a:t>Step</a:t>
            </a:r>
            <a:r>
              <a:rPr lang="ja-JP" altLang="en-US" dirty="0"/>
              <a:t>３</a:t>
            </a:r>
            <a:r>
              <a:rPr lang="en-US" altLang="ja-JP" dirty="0"/>
              <a:t>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907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BDC910CD9A8244BEDC995D2F247572" ma:contentTypeVersion="21" ma:contentTypeDescription="新しいドキュメントを作成します。" ma:contentTypeScope="" ma:versionID="0637cd114da27949fc1017c4268ce276">
  <xsd:schema xmlns:xsd="http://www.w3.org/2001/XMLSchema" xmlns:xs="http://www.w3.org/2001/XMLSchema" xmlns:p="http://schemas.microsoft.com/office/2006/metadata/properties" xmlns:ns2="d3d5a34a-8c78-48c8-b6af-84bce364c482" xmlns:ns3="8aa58b3b-7497-47fc-a5f7-adcdae2cb875" targetNamespace="http://schemas.microsoft.com/office/2006/metadata/properties" ma:root="true" ma:fieldsID="f53706a51d33caaa4ab07ab6b374b435" ns2:_="" ns3:_="">
    <xsd:import namespace="d3d5a34a-8c78-48c8-b6af-84bce364c482"/>
    <xsd:import namespace="8aa58b3b-7497-47fc-a5f7-adcdae2cb8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x76ee__x7684__x30fb__x8aac__x660e_" minOccurs="0"/>
                <xsd:element ref="ns2:_x65e5__x6642__x9806_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5a34a-8c78-48c8-b6af-84bce364c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00ae829c-a5b6-45d3-9aa9-f8b2d1f179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76ee__x7684__x30fb__x8aac__x660e_" ma:index="24" nillable="true" ma:displayName="目的・説明" ma:format="Dropdown" ma:internalName="_x76ee__x7684__x30fb__x8aac__x660e_">
      <xsd:simpleType>
        <xsd:restriction base="dms:Text">
          <xsd:maxLength value="255"/>
        </xsd:restriction>
      </xsd:simpleType>
    </xsd:element>
    <xsd:element name="_x65e5__x6642__x9806_" ma:index="25" nillable="true" ma:displayName="日時順" ma:format="DateOnly" ma:internalName="_x65e5__x6642__x9806_">
      <xsd:simpleType>
        <xsd:restriction base="dms:DateTim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58b3b-7497-47fc-a5f7-adcdae2cb8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ea591da-e307-41a5-b581-411062b4ed23}" ma:internalName="TaxCatchAll" ma:showField="CatchAllData" ma:web="8aa58b3b-7497-47fc-a5f7-adcdae2cb8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a58b3b-7497-47fc-a5f7-adcdae2cb875" xsi:nil="true"/>
    <lcf76f155ced4ddcb4097134ff3c332f xmlns="d3d5a34a-8c78-48c8-b6af-84bce364c482">
      <Terms xmlns="http://schemas.microsoft.com/office/infopath/2007/PartnerControls"/>
    </lcf76f155ced4ddcb4097134ff3c332f>
    <_x65e5__x6642__x9806_ xmlns="d3d5a34a-8c78-48c8-b6af-84bce364c482" xsi:nil="true"/>
    <_x76ee__x7684__x30fb__x8aac__x660e_ xmlns="d3d5a34a-8c78-48c8-b6af-84bce364c482" xsi:nil="true"/>
  </documentManagement>
</p:properties>
</file>

<file path=customXml/itemProps1.xml><?xml version="1.0" encoding="utf-8"?>
<ds:datastoreItem xmlns:ds="http://schemas.openxmlformats.org/officeDocument/2006/customXml" ds:itemID="{6F234F69-5076-48A5-9230-DA585C14D8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d5a34a-8c78-48c8-b6af-84bce364c482"/>
    <ds:schemaRef ds:uri="8aa58b3b-7497-47fc-a5f7-adcdae2cb8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28C4F7-8478-4C46-96F8-37BD2371EC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16447B-118F-44AF-9FBA-8B3AD8D1BF47}">
  <ds:schemaRefs>
    <ds:schemaRef ds:uri="http://schemas.microsoft.com/office/2006/metadata/properties"/>
    <ds:schemaRef ds:uri="http://schemas.microsoft.com/office/2006/documentManagement/types"/>
    <ds:schemaRef ds:uri="2e15eb8a-c581-44db-ac44-c06d57e6f17e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1a38cd9-529a-43a8-9498-18c7062802af"/>
    <ds:schemaRef ds:uri="8aa58b3b-7497-47fc-a5f7-adcdae2cb875"/>
    <ds:schemaRef ds:uri="d3d5a34a-8c78-48c8-b6af-84bce364c482"/>
  </ds:schemaRefs>
</ds:datastoreItem>
</file>

<file path=docMetadata/LabelInfo.xml><?xml version="1.0" encoding="utf-8"?>
<clbl:labelList xmlns:clbl="http://schemas.microsoft.com/office/2020/mipLabelMetadata">
  <clbl:label id="{a87245c4-93bb-4517-8c1f-2b9f3f8ad21f}" enabled="0" method="" siteId="{a87245c4-93bb-4517-8c1f-2b9f3f8ad2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3055</TotalTime>
  <Words>189</Words>
  <Application>Microsoft Office PowerPoint</Application>
  <PresentationFormat>画面に合わせる (4:3)</PresentationFormat>
  <Paragraphs>38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 UI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内田 知寿</dc:creator>
  <cp:lastModifiedBy>石川 明則</cp:lastModifiedBy>
  <cp:revision>28</cp:revision>
  <dcterms:created xsi:type="dcterms:W3CDTF">2024-08-22T03:02:21Z</dcterms:created>
  <dcterms:modified xsi:type="dcterms:W3CDTF">2026-03-04T00:14:56Z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0x01010044BDC910CD9A8244BEDC995D2F247572</vt:lpwstr>
  </property>
  <property fmtid="{D5CDD505-2E9C-101B-9397-08002B2CF9AE}" pid="3" name="MediaServiceImageTags">
    <vt:lpwstr/>
  </property>
</Properties>
</file>